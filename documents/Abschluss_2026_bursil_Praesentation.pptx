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0" r:id="rId5"/>
    <p:sldId id="261" r:id="rId6"/>
    <p:sldId id="265" r:id="rId7"/>
    <p:sldId id="263" r:id="rId8"/>
    <p:sldId id="264" r:id="rId9"/>
    <p:sldId id="25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4D4D4D"/>
    <a:srgbClr val="330036"/>
    <a:srgbClr val="C8AD55"/>
    <a:srgbClr val="13501B"/>
    <a:srgbClr val="E8D7F1"/>
    <a:srgbClr val="C7D0E3"/>
    <a:srgbClr val="CED3DC"/>
    <a:srgbClr val="E3F2FD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912B51-97F2-EB40-6F54-13E35E46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7AB6F2-3F2B-121F-D1FC-A8D113F6B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9080A6-A930-9DA8-51CA-77E2ABDE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D6E78B-7FC2-2825-D443-575C95B9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8AF262-0CBF-90E0-72DE-411560F8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41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8031C-BF05-4C36-DA32-16554AA1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85B028-B9BE-FAE6-E50F-C0562E251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DE118B-AA52-EEFD-48A8-9F897422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33B3C-DFD6-9E62-E200-234D3729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8356E8-14AF-ADB6-0DEB-33A6A2A2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254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DC32DF-A1B9-7975-B161-BCF9E427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4BD5C7-3377-AD2B-D0CB-ECCD46D7B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31D3AA-5417-4667-D86E-1A167EA3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89EC1B-F991-D826-DB2A-60E18880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DA6696-A7D8-DE69-C8AA-A2843694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66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E68C5-40CE-F7F4-83AF-C7549AE7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82E157-F175-A172-3AD7-F2F69ADCE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326396-48FC-ABCF-53F9-7486D5AB2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75CC6B-0B50-A43D-8E99-D13F33CC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02716A-DFED-1959-2D05-816D25F3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A83AB0-75AC-F2DE-074A-C47215C9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27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5E689C-A3FF-1141-FDE4-99FE95C4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4E2A09-5575-4616-6754-35DB9BF80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EFEB44-5BCE-969C-CAA1-5C58022B2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C2257F-D267-A4BD-4E5F-AA868ED96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DB7355-B23B-969D-FC05-08F7AAED0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DA1716-269F-6292-1881-0D33DBE4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B91F976-DE51-3975-36EC-EDD9A68E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50FBB0-F4CF-1ACC-6DCA-227B0B02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754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DCA4AE-C701-CD5D-AF85-7BB7F36F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8DFBC1-AF35-23A0-0CBB-A88FB6A3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F695E0-21FD-23E4-26B2-44647AAD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169686-E482-8360-BCB6-4826AEAF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69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EF88E6-4F5A-56ED-F6A2-F5FAACC8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3D1ECF-4354-7787-BA4B-1419D8DE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EF7BCB-AF0F-BB7B-8305-EC57632B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2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7BF1D-948D-0C95-1CDC-C37FE692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D625CD-80E6-3D91-9BE6-CEF465ED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AA0CF0-2392-D2DE-1C21-402B897E6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60C66F-B204-7C1C-4524-705BD3E0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EDEA0E-9715-BB73-FB49-AA668D2F0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38C741-65C7-D88A-6E0F-010CD595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57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FFDA7A-848F-52D3-1710-0314EC2B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A7CEC9-D7F3-6256-5C7D-A9251D968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DE9604-CD1B-4072-2656-86A16F3CD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57720E-A622-8696-C52D-08A74492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854452-1ED4-F96A-81CC-91CBB429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67B76D-5F60-A056-21C9-E5721738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73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189F18-4A1A-6866-23B2-6B094C01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6B3E78-5F85-986E-D448-553CDCBAF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A057B6-DFD1-C070-2B03-8EC28AEC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84DF2A-AB75-8249-5589-543D6B7D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F58208-1935-5B91-175D-E5075290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72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9FE3D8-8F8C-F116-5ABC-6100D73D9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ADC63D-E4B8-15BB-4761-30041F56C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DDCB3B-A351-BD55-6FE3-E89F03C13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795753-AA15-E933-BD59-8E5D0749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D1D1F0-D29A-9007-D920-4C4D3134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95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rgbClr val="92D050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2A643E0-DD4A-1C18-479D-683D0FBB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EA12B3-D7E2-0629-F054-49E3FC074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6B7E1F-402D-1497-0E31-61B5E50A6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351BC-E6B3-475D-8124-F8BAE5481BCC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5AA8F5-F0B8-3113-03F1-AA4090B16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49BF02-30FD-B871-AE62-ECB7FF317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5324F-9883-4C4A-BC0C-F42D2AF613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ttack.mitre.org/tactics/TA0011/" TargetMode="External"/><Relationship Id="rId13" Type="http://schemas.openxmlformats.org/officeDocument/2006/relationships/hyperlink" Target="https://www.hackthebox.com/blog/detecting-investigating-c2-communication" TargetMode="External"/><Relationship Id="rId18" Type="http://schemas.openxmlformats.org/officeDocument/2006/relationships/hyperlink" Target="https://pandas.pydata.org/docs/reference/index.html" TargetMode="External"/><Relationship Id="rId3" Type="http://schemas.openxmlformats.org/officeDocument/2006/relationships/hyperlink" Target="https://www.geeksforgeeks.org/machine-learning/k-means-clustering-introduction/" TargetMode="External"/><Relationship Id="rId21" Type="http://schemas.openxmlformats.org/officeDocument/2006/relationships/hyperlink" Target="https://media.geeksforgeeks.org/wp-content/uploads/20250929154234052438/backpropagation_in_neural_network_8.webp" TargetMode="External"/><Relationship Id="rId7" Type="http://schemas.openxmlformats.org/officeDocument/2006/relationships/hyperlink" Target="https://cyberbuff.github.io/TheAtomicPlaybook/tactics/command-and-control.html" TargetMode="External"/><Relationship Id="rId12" Type="http://schemas.openxmlformats.org/officeDocument/2006/relationships/hyperlink" Target="https://hunt.io/glossary/c2-beaconing" TargetMode="External"/><Relationship Id="rId17" Type="http://schemas.openxmlformats.org/officeDocument/2006/relationships/hyperlink" Target="https://scikit-learn.org/stable/api/index.html" TargetMode="External"/><Relationship Id="rId2" Type="http://schemas.openxmlformats.org/officeDocument/2006/relationships/hyperlink" Target="https://www.geeksforgeeks.org/machine-learning/what-is-isolation-forest/" TargetMode="External"/><Relationship Id="rId16" Type="http://schemas.openxmlformats.org/officeDocument/2006/relationships/hyperlink" Target="https://sliver.sh/" TargetMode="External"/><Relationship Id="rId20" Type="http://schemas.openxmlformats.org/officeDocument/2006/relationships/hyperlink" Target="https://www.kdnuggets.com/5-machine-learning-models-explained-in-5-minut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extronSystems/APTSimulator/blob/master/test-sets/cobaltstrike/cobaltstrike-simulation.bat" TargetMode="External"/><Relationship Id="rId11" Type="http://schemas.openxmlformats.org/officeDocument/2006/relationships/hyperlink" Target="https://huggingface.co/danielostrow/c2sentinel" TargetMode="External"/><Relationship Id="rId5" Type="http://schemas.openxmlformats.org/officeDocument/2006/relationships/hyperlink" Target="https://www.geeksforgeeks.org/machine-learning/random-forest-algorithm-in-machine-learning/" TargetMode="External"/><Relationship Id="rId15" Type="http://schemas.openxmlformats.org/officeDocument/2006/relationships/hyperlink" Target="https://www.nfstream.org/docs/api" TargetMode="External"/><Relationship Id="rId10" Type="http://schemas.openxmlformats.org/officeDocument/2006/relationships/hyperlink" Target="https://github.com/Siddarthkutumbaka/botnet-c2-detection-ml" TargetMode="External"/><Relationship Id="rId19" Type="http://schemas.openxmlformats.org/officeDocument/2006/relationships/hyperlink" Target="https://medium.com/@namit.ranjan/day-18-of-mydfir-soc-analyst-challenge-understanding-command-and-control-c2-in-cybersecurity-86ef42eec219" TargetMode="External"/><Relationship Id="rId4" Type="http://schemas.openxmlformats.org/officeDocument/2006/relationships/hyperlink" Target="https://www.geeksforgeeks.org/deep-learning/multi-layer-perceptron-learning-in-tensorflow/" TargetMode="External"/><Relationship Id="rId9" Type="http://schemas.openxmlformats.org/officeDocument/2006/relationships/hyperlink" Target="https://www.malwarepatrol.net/the-evolution-of-c2-communication-channels/" TargetMode="External"/><Relationship Id="rId14" Type="http://schemas.openxmlformats.org/officeDocument/2006/relationships/hyperlink" Target="https://www.netskope.com/resources/white-papers/effective-c2-beaconing-detection-white-paper#new-detection-approach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E74BD-4AE3-D11F-AE43-59E7EE62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6" y="365125"/>
            <a:ext cx="8834336" cy="1325563"/>
          </a:xfrm>
        </p:spPr>
        <p:txBody>
          <a:bodyPr/>
          <a:lstStyle/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C2ISOLATE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BC179E-5E3B-E1FF-1932-2DC29DCF8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312" y="4889500"/>
            <a:ext cx="2605391" cy="1603375"/>
          </a:xfrm>
        </p:spPr>
        <p:txBody>
          <a:bodyPr tIns="0" bIns="0" anchor="t" anchorCtr="0"/>
          <a:lstStyle/>
          <a:p>
            <a:pPr marL="0" indent="0">
              <a:buNone/>
            </a:pPr>
            <a:r>
              <a:rPr lang="de-DE" dirty="0"/>
              <a:t>Silas Burkhard</a:t>
            </a:r>
          </a:p>
          <a:p>
            <a:pPr marL="0" indent="0">
              <a:buNone/>
            </a:pPr>
            <a:r>
              <a:rPr lang="de-DE" dirty="0"/>
              <a:t>26.06.2026</a:t>
            </a:r>
          </a:p>
          <a:p>
            <a:pPr marL="0" indent="0">
              <a:buNone/>
            </a:pPr>
            <a:r>
              <a:rPr lang="de-DE" dirty="0" err="1"/>
              <a:t>Netcloud</a:t>
            </a:r>
            <a:r>
              <a:rPr lang="de-DE" dirty="0"/>
              <a:t> AG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3F69455-783C-BF49-B1FD-69316BDEDD1F}"/>
              </a:ext>
            </a:extLst>
          </p:cNvPr>
          <p:cNvSpPr txBox="1"/>
          <p:nvPr/>
        </p:nvSpPr>
        <p:spPr>
          <a:xfrm>
            <a:off x="481096" y="1690688"/>
            <a:ext cx="72957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dirty="0"/>
              <a:t>Erkennung von bösartigem Verhalten im Netzwerkverkehr mit ML-Algorithmen</a:t>
            </a:r>
            <a:endParaRPr lang="de-DE" sz="2800" dirty="0"/>
          </a:p>
        </p:txBody>
      </p:sp>
      <p:pic>
        <p:nvPicPr>
          <p:cNvPr id="7" name="Grafik 6" descr="Netcloud AG">
            <a:extLst>
              <a:ext uri="{FF2B5EF4-FFF2-40B4-BE49-F238E27FC236}">
                <a16:creationId xmlns:a16="http://schemas.microsoft.com/office/drawing/2014/main" id="{A894F30E-7AD8-35EF-01F8-4FC1928B7A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433" y="242155"/>
            <a:ext cx="1845945" cy="831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173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62C7B6D5-B332-98B5-C597-790131E4B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6" y="365125"/>
            <a:ext cx="8834336" cy="1325563"/>
          </a:xfrm>
        </p:spPr>
        <p:txBody>
          <a:bodyPr/>
          <a:lstStyle/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Projektziel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4197F64-218C-B119-2938-A612A284E8E9}"/>
              </a:ext>
            </a:extLst>
          </p:cNvPr>
          <p:cNvSpPr txBox="1"/>
          <p:nvPr/>
        </p:nvSpPr>
        <p:spPr>
          <a:xfrm>
            <a:off x="10380133" y="143933"/>
            <a:ext cx="210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Silas Burkhard</a:t>
            </a:r>
          </a:p>
          <a:p>
            <a:r>
              <a:rPr lang="de-DE" dirty="0"/>
              <a:t>26.06.2026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8D6811C-6411-ED84-1484-16BF9FFECC1B}"/>
              </a:ext>
            </a:extLst>
          </p:cNvPr>
          <p:cNvSpPr txBox="1"/>
          <p:nvPr/>
        </p:nvSpPr>
        <p:spPr>
          <a:xfrm>
            <a:off x="770466" y="1690688"/>
            <a:ext cx="568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Überwachung von Netzwerkverkehr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Mit </a:t>
            </a:r>
            <a:r>
              <a:rPr lang="de-DE" sz="2800" dirty="0" err="1"/>
              <a:t>Machine</a:t>
            </a:r>
            <a:r>
              <a:rPr lang="de-DE" sz="2800" dirty="0"/>
              <a:t>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 err="1"/>
              <a:t>C2</a:t>
            </a:r>
            <a:r>
              <a:rPr lang="de-DE" sz="2800" dirty="0"/>
              <a:t> Verhalten erkennen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Umsetzung in Python</a:t>
            </a:r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929289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27687623-7A14-D1B1-20B9-28F41F2D08BF}"/>
              </a:ext>
            </a:extLst>
          </p:cNvPr>
          <p:cNvSpPr txBox="1"/>
          <p:nvPr/>
        </p:nvSpPr>
        <p:spPr>
          <a:xfrm>
            <a:off x="572434" y="4121243"/>
            <a:ext cx="33035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Featureextrahierung</a:t>
            </a:r>
            <a:r>
              <a:rPr lang="de-DE" sz="2800" dirty="0"/>
              <a:t> und Berechnung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B19A793-0758-51AC-9E85-E12EE56D13EC}"/>
              </a:ext>
            </a:extLst>
          </p:cNvPr>
          <p:cNvSpPr txBox="1"/>
          <p:nvPr/>
        </p:nvSpPr>
        <p:spPr>
          <a:xfrm>
            <a:off x="4314613" y="4138175"/>
            <a:ext cx="1862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In Cluster gruppieren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E079EF4-DDA0-0F51-0707-BBDBA29EE536}"/>
              </a:ext>
            </a:extLst>
          </p:cNvPr>
          <p:cNvSpPr txBox="1"/>
          <p:nvPr/>
        </p:nvSpPr>
        <p:spPr>
          <a:xfrm>
            <a:off x="6615955" y="4121244"/>
            <a:ext cx="1975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Anomalien finden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A0E063-4273-6442-CEDB-1D107E726E03}"/>
              </a:ext>
            </a:extLst>
          </p:cNvPr>
          <p:cNvSpPr txBox="1"/>
          <p:nvPr/>
        </p:nvSpPr>
        <p:spPr>
          <a:xfrm>
            <a:off x="9030546" y="4121242"/>
            <a:ext cx="18965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Ergebnisse anzeigen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89B93E8D-06FC-86C5-AA29-A727553B2810}"/>
              </a:ext>
            </a:extLst>
          </p:cNvPr>
          <p:cNvSpPr txBox="1">
            <a:spLocks/>
          </p:cNvSpPr>
          <p:nvPr/>
        </p:nvSpPr>
        <p:spPr>
          <a:xfrm>
            <a:off x="481096" y="365125"/>
            <a:ext cx="88343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Funktionsweise des Prototypen</a:t>
            </a:r>
          </a:p>
        </p:txBody>
      </p:sp>
      <p:cxnSp>
        <p:nvCxnSpPr>
          <p:cNvPr id="17" name="Verbinder: gekrümmt 16">
            <a:extLst>
              <a:ext uri="{FF2B5EF4-FFF2-40B4-BE49-F238E27FC236}">
                <a16:creationId xmlns:a16="http://schemas.microsoft.com/office/drawing/2014/main" id="{5BEDF2FE-3EAF-8698-CC48-04A48C7AAA9B}"/>
              </a:ext>
            </a:extLst>
          </p:cNvPr>
          <p:cNvCxnSpPr>
            <a:stCxn id="7" idx="2"/>
            <a:endCxn id="9" idx="2"/>
          </p:cNvCxnSpPr>
          <p:nvPr/>
        </p:nvCxnSpPr>
        <p:spPr>
          <a:xfrm rot="16200000" flipH="1">
            <a:off x="3726600" y="3572935"/>
            <a:ext cx="16932" cy="3021761"/>
          </a:xfrm>
          <a:prstGeom prst="curvedConnector3">
            <a:avLst>
              <a:gd name="adj1" fmla="val 1450106"/>
            </a:avLst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krümmt 18">
            <a:extLst>
              <a:ext uri="{FF2B5EF4-FFF2-40B4-BE49-F238E27FC236}">
                <a16:creationId xmlns:a16="http://schemas.microsoft.com/office/drawing/2014/main" id="{7EBDCC44-7A35-D3B3-CE6A-6DD815F8D3BC}"/>
              </a:ext>
            </a:extLst>
          </p:cNvPr>
          <p:cNvCxnSpPr>
            <a:stCxn id="9" idx="2"/>
            <a:endCxn id="10" idx="2"/>
          </p:cNvCxnSpPr>
          <p:nvPr/>
        </p:nvCxnSpPr>
        <p:spPr>
          <a:xfrm rot="5400000" flipH="1" flipV="1">
            <a:off x="6416464" y="3904834"/>
            <a:ext cx="16931" cy="2357966"/>
          </a:xfrm>
          <a:prstGeom prst="curvedConnector3">
            <a:avLst>
              <a:gd name="adj1" fmla="val -1350186"/>
            </a:avLst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krümmt 20">
            <a:extLst>
              <a:ext uri="{FF2B5EF4-FFF2-40B4-BE49-F238E27FC236}">
                <a16:creationId xmlns:a16="http://schemas.microsoft.com/office/drawing/2014/main" id="{2C060504-851D-B1F5-E910-A2CEB6453071}"/>
              </a:ext>
            </a:extLst>
          </p:cNvPr>
          <p:cNvCxnSpPr>
            <a:stCxn id="10" idx="2"/>
            <a:endCxn id="11" idx="2"/>
          </p:cNvCxnSpPr>
          <p:nvPr/>
        </p:nvCxnSpPr>
        <p:spPr>
          <a:xfrm rot="5400000" flipH="1" flipV="1">
            <a:off x="8791361" y="3887900"/>
            <a:ext cx="2" cy="2374899"/>
          </a:xfrm>
          <a:prstGeom prst="curvedConnector3">
            <a:avLst>
              <a:gd name="adj1" fmla="val -11430000000"/>
            </a:avLst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16E66D5-F7F4-4EF9-C751-C15B4172AADF}"/>
              </a:ext>
            </a:extLst>
          </p:cNvPr>
          <p:cNvSpPr txBox="1"/>
          <p:nvPr/>
        </p:nvSpPr>
        <p:spPr>
          <a:xfrm>
            <a:off x="10380133" y="143933"/>
            <a:ext cx="210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Silas Burkhard</a:t>
            </a:r>
          </a:p>
          <a:p>
            <a:r>
              <a:rPr lang="de-DE" dirty="0"/>
              <a:t>26.06.2026</a:t>
            </a:r>
          </a:p>
        </p:txBody>
      </p:sp>
      <p:pic>
        <p:nvPicPr>
          <p:cNvPr id="24" name="Grafik 23" descr="Business Service Process Company Outsourcing Recruitment Transparent HQ ...">
            <a:extLst>
              <a:ext uri="{FF2B5EF4-FFF2-40B4-BE49-F238E27FC236}">
                <a16:creationId xmlns:a16="http://schemas.microsoft.com/office/drawing/2014/main" id="{948A5B00-53A4-CA02-0012-6C36CF5C7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46" y="2382930"/>
            <a:ext cx="1684868" cy="1684868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D8DDF5F-7523-56CB-696F-CB7AD2D26191}"/>
              </a:ext>
            </a:extLst>
          </p:cNvPr>
          <p:cNvGrpSpPr/>
          <p:nvPr/>
        </p:nvGrpSpPr>
        <p:grpSpPr>
          <a:xfrm>
            <a:off x="4529703" y="3086101"/>
            <a:ext cx="1090425" cy="825243"/>
            <a:chOff x="4529703" y="3086101"/>
            <a:chExt cx="1090425" cy="825243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943B075-814C-F7A4-005B-C9C4EBED2145}"/>
                </a:ext>
              </a:extLst>
            </p:cNvPr>
            <p:cNvSpPr/>
            <p:nvPr/>
          </p:nvSpPr>
          <p:spPr>
            <a:xfrm>
              <a:off x="4620675" y="3562442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2073592B-1FEB-0977-109A-9F9196EB0B30}"/>
                </a:ext>
              </a:extLst>
            </p:cNvPr>
            <p:cNvSpPr/>
            <p:nvPr/>
          </p:nvSpPr>
          <p:spPr>
            <a:xfrm>
              <a:off x="4722725" y="3761408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DE1E84DD-E2A2-FE15-D467-3DE6EF7AA8BE}"/>
                </a:ext>
              </a:extLst>
            </p:cNvPr>
            <p:cNvSpPr/>
            <p:nvPr/>
          </p:nvSpPr>
          <p:spPr>
            <a:xfrm>
              <a:off x="4529703" y="3767411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938B3D76-1071-BDD9-B7FE-E62F14283B99}"/>
                </a:ext>
              </a:extLst>
            </p:cNvPr>
            <p:cNvSpPr/>
            <p:nvPr/>
          </p:nvSpPr>
          <p:spPr>
            <a:xfrm>
              <a:off x="4986814" y="3086101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0B5B7B41-9A63-424C-E9B0-69A24183F351}"/>
                </a:ext>
              </a:extLst>
            </p:cNvPr>
            <p:cNvSpPr/>
            <p:nvPr/>
          </p:nvSpPr>
          <p:spPr>
            <a:xfrm>
              <a:off x="5088864" y="3285067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E1CB05C6-F58D-52A4-AD39-8707A4324275}"/>
                </a:ext>
              </a:extLst>
            </p:cNvPr>
            <p:cNvSpPr/>
            <p:nvPr/>
          </p:nvSpPr>
          <p:spPr>
            <a:xfrm>
              <a:off x="4895842" y="3291070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B454A057-5B05-139B-1BB5-6C660A80CA25}"/>
                </a:ext>
              </a:extLst>
            </p:cNvPr>
            <p:cNvSpPr/>
            <p:nvPr/>
          </p:nvSpPr>
          <p:spPr>
            <a:xfrm>
              <a:off x="5374145" y="3562442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8833182E-BE6C-4DFB-9A0A-53FEB70EEECA}"/>
                </a:ext>
              </a:extLst>
            </p:cNvPr>
            <p:cNvSpPr/>
            <p:nvPr/>
          </p:nvSpPr>
          <p:spPr>
            <a:xfrm>
              <a:off x="5476195" y="3761408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A3215B1B-6B30-7E7B-810A-000501B8A8A3}"/>
                </a:ext>
              </a:extLst>
            </p:cNvPr>
            <p:cNvSpPr/>
            <p:nvPr/>
          </p:nvSpPr>
          <p:spPr>
            <a:xfrm>
              <a:off x="5283173" y="3767411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80E807C-1C9B-6958-6ED5-7125DFD2BC1A}"/>
              </a:ext>
            </a:extLst>
          </p:cNvPr>
          <p:cNvGrpSpPr/>
          <p:nvPr/>
        </p:nvGrpSpPr>
        <p:grpSpPr>
          <a:xfrm>
            <a:off x="6955819" y="3086101"/>
            <a:ext cx="1090425" cy="825243"/>
            <a:chOff x="6955819" y="3086101"/>
            <a:chExt cx="1090425" cy="825243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E558B7C0-732B-3156-CF38-896B1EC41C42}"/>
                </a:ext>
              </a:extLst>
            </p:cNvPr>
            <p:cNvSpPr/>
            <p:nvPr/>
          </p:nvSpPr>
          <p:spPr>
            <a:xfrm>
              <a:off x="7046791" y="3562442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EF49B9B-3BC9-E373-870D-F7510820539F}"/>
                </a:ext>
              </a:extLst>
            </p:cNvPr>
            <p:cNvSpPr/>
            <p:nvPr/>
          </p:nvSpPr>
          <p:spPr>
            <a:xfrm>
              <a:off x="7148841" y="3761408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9E82BEEC-437C-2BC8-C0FF-1F79AD1D44F8}"/>
                </a:ext>
              </a:extLst>
            </p:cNvPr>
            <p:cNvSpPr/>
            <p:nvPr/>
          </p:nvSpPr>
          <p:spPr>
            <a:xfrm>
              <a:off x="6955819" y="3767411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AF852255-042D-19F4-7A89-518CDBE61FCC}"/>
                </a:ext>
              </a:extLst>
            </p:cNvPr>
            <p:cNvSpPr/>
            <p:nvPr/>
          </p:nvSpPr>
          <p:spPr>
            <a:xfrm>
              <a:off x="7412930" y="3086101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6CA118C6-A516-D511-66F4-1876C05917F9}"/>
                </a:ext>
              </a:extLst>
            </p:cNvPr>
            <p:cNvSpPr/>
            <p:nvPr/>
          </p:nvSpPr>
          <p:spPr>
            <a:xfrm>
              <a:off x="7514980" y="3285067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070F6D77-0671-9026-F8C3-705DB64DC629}"/>
                </a:ext>
              </a:extLst>
            </p:cNvPr>
            <p:cNvSpPr/>
            <p:nvPr/>
          </p:nvSpPr>
          <p:spPr>
            <a:xfrm>
              <a:off x="7321958" y="3291070"/>
              <a:ext cx="143933" cy="143933"/>
            </a:xfrm>
            <a:prstGeom prst="ellipse">
              <a:avLst/>
            </a:prstGeom>
            <a:solidFill>
              <a:srgbClr val="4D4D4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FE342BE1-4E16-7607-5A7C-C78F16176896}"/>
                </a:ext>
              </a:extLst>
            </p:cNvPr>
            <p:cNvSpPr/>
            <p:nvPr/>
          </p:nvSpPr>
          <p:spPr>
            <a:xfrm>
              <a:off x="7800261" y="3562442"/>
              <a:ext cx="143933" cy="14393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96A50C4B-FD5C-DFD2-4B9E-9B6B41F50437}"/>
                </a:ext>
              </a:extLst>
            </p:cNvPr>
            <p:cNvSpPr/>
            <p:nvPr/>
          </p:nvSpPr>
          <p:spPr>
            <a:xfrm>
              <a:off x="7902311" y="3761408"/>
              <a:ext cx="143933" cy="14393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607F5D84-A573-BEA1-4A29-6631E1533ECD}"/>
                </a:ext>
              </a:extLst>
            </p:cNvPr>
            <p:cNvSpPr/>
            <p:nvPr/>
          </p:nvSpPr>
          <p:spPr>
            <a:xfrm>
              <a:off x="7709289" y="3767411"/>
              <a:ext cx="143933" cy="14393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66" name="Grafik 65">
            <a:extLst>
              <a:ext uri="{FF2B5EF4-FFF2-40B4-BE49-F238E27FC236}">
                <a16:creationId xmlns:a16="http://schemas.microsoft.com/office/drawing/2014/main" id="{C5299AD4-1247-13B3-BDAD-DDB5AFA37F6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679" y="2441042"/>
            <a:ext cx="1975916" cy="197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37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7B97C1-F34F-4581-1911-8E9C75710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80768"/>
            <a:ext cx="5157787" cy="823912"/>
          </a:xfrm>
        </p:spPr>
        <p:txBody>
          <a:bodyPr/>
          <a:lstStyle/>
          <a:p>
            <a:r>
              <a:rPr lang="de-DE" dirty="0"/>
              <a:t>Geplant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4623E5-FA09-9C76-0C19-0A1EF06FD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04679"/>
            <a:ext cx="5157787" cy="4688195"/>
          </a:xfrm>
        </p:spPr>
        <p:txBody>
          <a:bodyPr/>
          <a:lstStyle/>
          <a:p>
            <a:r>
              <a:rPr lang="de-DE" dirty="0"/>
              <a:t>Informationsbeschaffung</a:t>
            </a:r>
          </a:p>
          <a:p>
            <a:pPr lvl="1"/>
            <a:r>
              <a:rPr lang="de-DE" dirty="0"/>
              <a:t>… über Botnet Architekturen</a:t>
            </a:r>
          </a:p>
          <a:p>
            <a:pPr lvl="1"/>
            <a:r>
              <a:rPr lang="de-DE" dirty="0"/>
              <a:t>… über veröffentlichte Tools</a:t>
            </a:r>
          </a:p>
          <a:p>
            <a:pPr lvl="1"/>
            <a:r>
              <a:rPr lang="de-DE" dirty="0"/>
              <a:t>… über Pro/Contra von verschiedenen ML-Algorithmen</a:t>
            </a:r>
          </a:p>
          <a:p>
            <a:r>
              <a:rPr lang="de-DE" dirty="0"/>
              <a:t>Prototyp</a:t>
            </a:r>
          </a:p>
          <a:p>
            <a:pPr lvl="1"/>
            <a:r>
              <a:rPr lang="de-DE" dirty="0"/>
              <a:t>ML-Algorithmus einsetzten</a:t>
            </a:r>
          </a:p>
          <a:p>
            <a:pPr lvl="1"/>
            <a:r>
              <a:rPr lang="de-DE" dirty="0"/>
              <a:t>Simulierten Verkehr erkennen</a:t>
            </a:r>
          </a:p>
          <a:p>
            <a:r>
              <a:rPr lang="de-DE" dirty="0"/>
              <a:t>Echten </a:t>
            </a:r>
            <a:r>
              <a:rPr lang="de-DE" dirty="0" err="1"/>
              <a:t>C2</a:t>
            </a:r>
            <a:r>
              <a:rPr lang="de-DE" dirty="0"/>
              <a:t> erkennen</a:t>
            </a:r>
          </a:p>
          <a:p>
            <a:pPr lvl="1"/>
            <a:r>
              <a:rPr lang="de-DE" dirty="0" err="1"/>
              <a:t>C2</a:t>
            </a:r>
            <a:r>
              <a:rPr lang="de-DE" dirty="0"/>
              <a:t> Server aufsetzten</a:t>
            </a:r>
          </a:p>
          <a:p>
            <a:pPr lvl="1"/>
            <a:r>
              <a:rPr lang="de-DE" dirty="0" err="1"/>
              <a:t>C2</a:t>
            </a:r>
            <a:r>
              <a:rPr lang="de-DE" dirty="0"/>
              <a:t> Verkehr erkennen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C1F915-5389-8852-FCFE-F9A75881E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80768"/>
            <a:ext cx="5183188" cy="823912"/>
          </a:xfrm>
        </p:spPr>
        <p:txBody>
          <a:bodyPr/>
          <a:lstStyle/>
          <a:p>
            <a:r>
              <a:rPr lang="de-DE" dirty="0"/>
              <a:t>Erreicht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B5B17D-F809-3245-2CE1-22128A86C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04679"/>
            <a:ext cx="5183188" cy="4688195"/>
          </a:xfrm>
        </p:spPr>
        <p:txBody>
          <a:bodyPr/>
          <a:lstStyle/>
          <a:p>
            <a:r>
              <a:rPr lang="de-DE" dirty="0"/>
              <a:t>Informationsbeschaffung</a:t>
            </a:r>
          </a:p>
          <a:p>
            <a:pPr lvl="1"/>
            <a:r>
              <a:rPr lang="de-DE" dirty="0"/>
              <a:t>… über Botnet Architekturen</a:t>
            </a:r>
          </a:p>
          <a:p>
            <a:pPr lvl="1"/>
            <a:r>
              <a:rPr lang="de-DE" dirty="0"/>
              <a:t>… über veröffentlichte Tools</a:t>
            </a:r>
          </a:p>
          <a:p>
            <a:pPr lvl="1"/>
            <a:r>
              <a:rPr lang="de-DE" dirty="0"/>
              <a:t>… über Pro/Contra von verschiedenen ML-Algorithmen</a:t>
            </a:r>
          </a:p>
          <a:p>
            <a:r>
              <a:rPr lang="de-DE" dirty="0"/>
              <a:t>Prototyp</a:t>
            </a:r>
          </a:p>
          <a:p>
            <a:pPr lvl="1"/>
            <a:r>
              <a:rPr lang="de-DE" dirty="0"/>
              <a:t>ML-Algorithmus einsetzten</a:t>
            </a:r>
          </a:p>
          <a:p>
            <a:pPr lvl="1"/>
            <a:r>
              <a:rPr lang="de-DE" dirty="0"/>
              <a:t>Simulierten Verkehr erkennen</a:t>
            </a:r>
          </a:p>
          <a:p>
            <a:r>
              <a:rPr lang="de-DE" dirty="0"/>
              <a:t>Echten </a:t>
            </a:r>
            <a:r>
              <a:rPr lang="de-DE" dirty="0" err="1"/>
              <a:t>C2</a:t>
            </a:r>
            <a:r>
              <a:rPr lang="de-DE" dirty="0"/>
              <a:t> erkennen</a:t>
            </a:r>
          </a:p>
          <a:p>
            <a:pPr lvl="1"/>
            <a:r>
              <a:rPr lang="de-DE" dirty="0" err="1"/>
              <a:t>C2</a:t>
            </a:r>
            <a:r>
              <a:rPr lang="de-DE" dirty="0"/>
              <a:t> Server aufsetzten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6C7C64A-C976-9683-1D48-323DDE804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6" y="365125"/>
            <a:ext cx="8834336" cy="1325563"/>
          </a:xfrm>
        </p:spPr>
        <p:txBody>
          <a:bodyPr/>
          <a:lstStyle/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Erreichte Ziele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8529358-5584-FF35-7A05-954F7A537606}"/>
              </a:ext>
            </a:extLst>
          </p:cNvPr>
          <p:cNvSpPr txBox="1"/>
          <p:nvPr/>
        </p:nvSpPr>
        <p:spPr>
          <a:xfrm>
            <a:off x="10380133" y="143933"/>
            <a:ext cx="210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Silas Burkhard</a:t>
            </a:r>
          </a:p>
          <a:p>
            <a:r>
              <a:rPr lang="de-DE" dirty="0"/>
              <a:t>26.06.2026</a:t>
            </a:r>
          </a:p>
        </p:txBody>
      </p:sp>
    </p:spTree>
    <p:extLst>
      <p:ext uri="{BB962C8B-B14F-4D97-AF65-F5344CB8AC3E}">
        <p14:creationId xmlns:p14="http://schemas.microsoft.com/office/powerpoint/2010/main" val="196388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D4051BB3-74A2-3F7F-5E4B-5117EF620586}"/>
              </a:ext>
            </a:extLst>
          </p:cNvPr>
          <p:cNvSpPr txBox="1">
            <a:spLocks/>
          </p:cNvSpPr>
          <p:nvPr/>
        </p:nvSpPr>
        <p:spPr>
          <a:xfrm>
            <a:off x="481096" y="365125"/>
            <a:ext cx="88343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Live Demo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1EE52E-25C2-B210-1E37-FC69844D3E89}"/>
              </a:ext>
            </a:extLst>
          </p:cNvPr>
          <p:cNvSpPr txBox="1"/>
          <p:nvPr/>
        </p:nvSpPr>
        <p:spPr>
          <a:xfrm>
            <a:off x="10380133" y="143933"/>
            <a:ext cx="210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Silas Burkhard</a:t>
            </a:r>
          </a:p>
          <a:p>
            <a:r>
              <a:rPr lang="de-DE" dirty="0"/>
              <a:t>26.06.2026</a:t>
            </a:r>
          </a:p>
        </p:txBody>
      </p:sp>
    </p:spTree>
    <p:extLst>
      <p:ext uri="{BB962C8B-B14F-4D97-AF65-F5344CB8AC3E}">
        <p14:creationId xmlns:p14="http://schemas.microsoft.com/office/powerpoint/2010/main" val="2183899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1E05-D0D5-5134-B5E7-459BF8EB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0BB95B-19AB-A913-2191-B464AB673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80768"/>
            <a:ext cx="5157787" cy="823912"/>
          </a:xfrm>
        </p:spPr>
        <p:txBody>
          <a:bodyPr/>
          <a:lstStyle/>
          <a:p>
            <a:r>
              <a:rPr lang="de-DE" dirty="0"/>
              <a:t>Pros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BAE2DC-699D-E960-083E-2481F178C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04679"/>
            <a:ext cx="5157787" cy="4688195"/>
          </a:xfrm>
        </p:spPr>
        <p:txBody>
          <a:bodyPr/>
          <a:lstStyle/>
          <a:p>
            <a:r>
              <a:rPr lang="de-DE" dirty="0"/>
              <a:t>Informationsbeschaffung</a:t>
            </a:r>
          </a:p>
          <a:p>
            <a:pPr lvl="1"/>
            <a:r>
              <a:rPr lang="de-DE" dirty="0"/>
              <a:t>… über Botnet Architekturen</a:t>
            </a:r>
          </a:p>
          <a:p>
            <a:pPr lvl="1"/>
            <a:r>
              <a:rPr lang="de-DE" dirty="0"/>
              <a:t>… über veröffentlichte Tools</a:t>
            </a:r>
          </a:p>
          <a:p>
            <a:pPr lvl="1"/>
            <a:r>
              <a:rPr lang="de-DE" dirty="0"/>
              <a:t>… über Pro/Contra von verschiedenen ML-Algorithmen</a:t>
            </a:r>
          </a:p>
          <a:p>
            <a:r>
              <a:rPr lang="de-DE" dirty="0"/>
              <a:t>Prototyp</a:t>
            </a:r>
          </a:p>
          <a:p>
            <a:pPr lvl="1"/>
            <a:r>
              <a:rPr lang="de-DE" dirty="0"/>
              <a:t>ML-Algorithmus einsetzten</a:t>
            </a:r>
          </a:p>
          <a:p>
            <a:pPr lvl="1"/>
            <a:r>
              <a:rPr lang="de-DE" dirty="0"/>
              <a:t>Simulierten Verkehr erkennen</a:t>
            </a:r>
          </a:p>
          <a:p>
            <a:r>
              <a:rPr lang="de-DE" dirty="0"/>
              <a:t>Echten </a:t>
            </a:r>
            <a:r>
              <a:rPr lang="de-DE" dirty="0" err="1"/>
              <a:t>C2</a:t>
            </a:r>
            <a:r>
              <a:rPr lang="de-DE" dirty="0"/>
              <a:t> erkennen</a:t>
            </a:r>
          </a:p>
          <a:p>
            <a:pPr lvl="1"/>
            <a:r>
              <a:rPr lang="de-DE" dirty="0" err="1"/>
              <a:t>C2</a:t>
            </a:r>
            <a:r>
              <a:rPr lang="de-DE" dirty="0"/>
              <a:t> Server aufsetzten</a:t>
            </a:r>
          </a:p>
          <a:p>
            <a:pPr lvl="1"/>
            <a:r>
              <a:rPr lang="de-DE" dirty="0" err="1"/>
              <a:t>C2</a:t>
            </a:r>
            <a:r>
              <a:rPr lang="de-DE" dirty="0"/>
              <a:t> Verkehr erkennen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43C596-7831-CB28-AB26-A9D1F3B08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80768"/>
            <a:ext cx="5183188" cy="823912"/>
          </a:xfrm>
        </p:spPr>
        <p:txBody>
          <a:bodyPr/>
          <a:lstStyle/>
          <a:p>
            <a:r>
              <a:rPr lang="de-DE" dirty="0"/>
              <a:t>Contra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9022A8-B9C3-EE17-A8AD-07E97F871F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04679"/>
            <a:ext cx="5183188" cy="4688195"/>
          </a:xfrm>
        </p:spPr>
        <p:txBody>
          <a:bodyPr/>
          <a:lstStyle/>
          <a:p>
            <a:r>
              <a:rPr lang="de-DE" dirty="0"/>
              <a:t>Informationsbeschaffung</a:t>
            </a:r>
          </a:p>
          <a:p>
            <a:pPr lvl="1"/>
            <a:r>
              <a:rPr lang="de-DE" dirty="0"/>
              <a:t>… über Botnet Architekturen</a:t>
            </a:r>
          </a:p>
          <a:p>
            <a:pPr lvl="1"/>
            <a:r>
              <a:rPr lang="de-DE" dirty="0"/>
              <a:t>… über veröffentlichte Tools</a:t>
            </a:r>
          </a:p>
          <a:p>
            <a:pPr lvl="1"/>
            <a:r>
              <a:rPr lang="de-DE" dirty="0"/>
              <a:t>… über Pro/Contra von verschiedenen ML-Algorithmen</a:t>
            </a:r>
          </a:p>
          <a:p>
            <a:r>
              <a:rPr lang="de-DE" dirty="0"/>
              <a:t>Prototyp</a:t>
            </a:r>
          </a:p>
          <a:p>
            <a:pPr lvl="1"/>
            <a:r>
              <a:rPr lang="de-DE" dirty="0"/>
              <a:t>ML-Algorithmus einsetzten</a:t>
            </a:r>
          </a:p>
          <a:p>
            <a:pPr lvl="1"/>
            <a:r>
              <a:rPr lang="de-DE" dirty="0"/>
              <a:t>Simulierten Verkehr erkennen</a:t>
            </a:r>
          </a:p>
          <a:p>
            <a:r>
              <a:rPr lang="de-DE" dirty="0"/>
              <a:t>Echten </a:t>
            </a:r>
            <a:r>
              <a:rPr lang="de-DE" dirty="0" err="1"/>
              <a:t>C2</a:t>
            </a:r>
            <a:r>
              <a:rPr lang="de-DE" dirty="0"/>
              <a:t> erkennen</a:t>
            </a:r>
          </a:p>
          <a:p>
            <a:pPr lvl="1"/>
            <a:r>
              <a:rPr lang="de-DE" dirty="0" err="1"/>
              <a:t>C2</a:t>
            </a:r>
            <a:r>
              <a:rPr lang="de-DE" dirty="0"/>
              <a:t> Server aufsetzten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92264A12-F8A4-D510-395E-9A008619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96" y="365125"/>
            <a:ext cx="8834336" cy="1325563"/>
          </a:xfrm>
        </p:spPr>
        <p:txBody>
          <a:bodyPr/>
          <a:lstStyle/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Erreichte Ziele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A473F70-D121-62AB-714F-E2B6687577F5}"/>
              </a:ext>
            </a:extLst>
          </p:cNvPr>
          <p:cNvSpPr txBox="1"/>
          <p:nvPr/>
        </p:nvSpPr>
        <p:spPr>
          <a:xfrm>
            <a:off x="10380133" y="143933"/>
            <a:ext cx="210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Silas Burkhard</a:t>
            </a:r>
          </a:p>
          <a:p>
            <a:r>
              <a:rPr lang="de-DE" dirty="0"/>
              <a:t>26.06.2026</a:t>
            </a:r>
          </a:p>
        </p:txBody>
      </p:sp>
    </p:spTree>
    <p:extLst>
      <p:ext uri="{BB962C8B-B14F-4D97-AF65-F5344CB8AC3E}">
        <p14:creationId xmlns:p14="http://schemas.microsoft.com/office/powerpoint/2010/main" val="2952892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348C12-A665-DBDA-5516-317EA4C0B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Anspruchsvolles Projekt</a:t>
            </a:r>
          </a:p>
          <a:p>
            <a:r>
              <a:rPr lang="de-DE" dirty="0"/>
              <a:t>Spannende Themen kennengelernt</a:t>
            </a:r>
          </a:p>
          <a:p>
            <a:r>
              <a:rPr lang="de-DE" dirty="0"/>
              <a:t>Einige Probleme</a:t>
            </a:r>
          </a:p>
          <a:p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759A2EA-862F-358C-A0CE-C16DCAD6C464}"/>
              </a:ext>
            </a:extLst>
          </p:cNvPr>
          <p:cNvSpPr txBox="1">
            <a:spLocks/>
          </p:cNvSpPr>
          <p:nvPr/>
        </p:nvSpPr>
        <p:spPr>
          <a:xfrm>
            <a:off x="481096" y="365125"/>
            <a:ext cx="88343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Fazit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C0818E0-8374-BCD8-C782-EB786AD196A4}"/>
              </a:ext>
            </a:extLst>
          </p:cNvPr>
          <p:cNvSpPr txBox="1"/>
          <p:nvPr/>
        </p:nvSpPr>
        <p:spPr>
          <a:xfrm>
            <a:off x="10380133" y="143933"/>
            <a:ext cx="210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Silas Burkhard</a:t>
            </a:r>
          </a:p>
          <a:p>
            <a:r>
              <a:rPr lang="de-DE" dirty="0"/>
              <a:t>26.06.2026</a:t>
            </a:r>
          </a:p>
        </p:txBody>
      </p:sp>
    </p:spTree>
    <p:extLst>
      <p:ext uri="{BB962C8B-B14F-4D97-AF65-F5344CB8AC3E}">
        <p14:creationId xmlns:p14="http://schemas.microsoft.com/office/powerpoint/2010/main" val="416838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24664-D97E-F407-AF60-B6BB470F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8FF8C1-F583-EB02-BBAF-AB828846A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91800" cy="4351338"/>
          </a:xfrm>
        </p:spPr>
        <p:txBody>
          <a:bodyPr numCol="3" spcCol="72000">
            <a:normAutofit fontScale="55000" lnSpcReduction="20000"/>
          </a:bodyPr>
          <a:lstStyle/>
          <a:p>
            <a:pPr marL="0" indent="0">
              <a:buNone/>
            </a:pPr>
            <a:r>
              <a:rPr lang="de-CH" b="1" dirty="0"/>
              <a:t>ML-Algorithmen</a:t>
            </a:r>
            <a:endParaRPr lang="de-DE" b="1" dirty="0"/>
          </a:p>
          <a:p>
            <a:r>
              <a:rPr lang="de-CH" u="sng" dirty="0">
                <a:hlinkClick r:id="rId2"/>
              </a:rPr>
              <a:t>https://</a:t>
            </a:r>
            <a:r>
              <a:rPr lang="de-CH" u="sng" dirty="0" err="1">
                <a:hlinkClick r:id="rId2"/>
              </a:rPr>
              <a:t>www.geeksforgeeks.org</a:t>
            </a:r>
            <a:r>
              <a:rPr lang="de-CH" u="sng" dirty="0">
                <a:hlinkClick r:id="rId2"/>
              </a:rPr>
              <a:t>/</a:t>
            </a:r>
            <a:r>
              <a:rPr lang="de-CH" u="sng" dirty="0" err="1">
                <a:hlinkClick r:id="rId2"/>
              </a:rPr>
              <a:t>machine-learning</a:t>
            </a:r>
            <a:r>
              <a:rPr lang="de-CH" u="sng" dirty="0">
                <a:hlinkClick r:id="rId2"/>
              </a:rPr>
              <a:t>/</a:t>
            </a:r>
            <a:r>
              <a:rPr lang="de-CH" u="sng" dirty="0" err="1">
                <a:hlinkClick r:id="rId2"/>
              </a:rPr>
              <a:t>what</a:t>
            </a:r>
            <a:r>
              <a:rPr lang="de-CH" u="sng" dirty="0">
                <a:hlinkClick r:id="rId2"/>
              </a:rPr>
              <a:t>-</a:t>
            </a:r>
            <a:r>
              <a:rPr lang="de-CH" u="sng" dirty="0" err="1">
                <a:hlinkClick r:id="rId2"/>
              </a:rPr>
              <a:t>is</a:t>
            </a:r>
            <a:r>
              <a:rPr lang="de-CH" u="sng" dirty="0">
                <a:hlinkClick r:id="rId2"/>
              </a:rPr>
              <a:t>-isolation-</a:t>
            </a:r>
            <a:r>
              <a:rPr lang="de-CH" u="sng" dirty="0" err="1">
                <a:hlinkClick r:id="rId2"/>
              </a:rPr>
              <a:t>forest</a:t>
            </a:r>
            <a:r>
              <a:rPr lang="de-CH" u="sng" dirty="0">
                <a:hlinkClick r:id="rId2"/>
              </a:rPr>
              <a:t>/</a:t>
            </a:r>
            <a:endParaRPr lang="de-DE" dirty="0"/>
          </a:p>
          <a:p>
            <a:r>
              <a:rPr lang="de-CH" u="sng" dirty="0">
                <a:hlinkClick r:id="rId3"/>
              </a:rPr>
              <a:t>https://</a:t>
            </a:r>
            <a:r>
              <a:rPr lang="de-CH" u="sng" dirty="0" err="1">
                <a:hlinkClick r:id="rId3"/>
              </a:rPr>
              <a:t>www.geeksforgeeks.org</a:t>
            </a:r>
            <a:r>
              <a:rPr lang="de-CH" u="sng" dirty="0">
                <a:hlinkClick r:id="rId3"/>
              </a:rPr>
              <a:t>/</a:t>
            </a:r>
            <a:r>
              <a:rPr lang="de-CH" u="sng" dirty="0" err="1">
                <a:hlinkClick r:id="rId3"/>
              </a:rPr>
              <a:t>machine-learning</a:t>
            </a:r>
            <a:r>
              <a:rPr lang="de-CH" u="sng" dirty="0">
                <a:hlinkClick r:id="rId3"/>
              </a:rPr>
              <a:t>/k-means-</a:t>
            </a:r>
            <a:r>
              <a:rPr lang="de-CH" u="sng" dirty="0" err="1">
                <a:hlinkClick r:id="rId3"/>
              </a:rPr>
              <a:t>clustering</a:t>
            </a:r>
            <a:r>
              <a:rPr lang="de-CH" u="sng" dirty="0">
                <a:hlinkClick r:id="rId3"/>
              </a:rPr>
              <a:t>-</a:t>
            </a:r>
            <a:r>
              <a:rPr lang="de-CH" u="sng" dirty="0" err="1">
                <a:hlinkClick r:id="rId3"/>
              </a:rPr>
              <a:t>introduction</a:t>
            </a:r>
            <a:r>
              <a:rPr lang="de-CH" u="sng" dirty="0">
                <a:hlinkClick r:id="rId3"/>
              </a:rPr>
              <a:t>/</a:t>
            </a:r>
            <a:endParaRPr lang="de-DE" dirty="0"/>
          </a:p>
          <a:p>
            <a:r>
              <a:rPr lang="de-CH" u="sng" dirty="0">
                <a:hlinkClick r:id="rId4"/>
              </a:rPr>
              <a:t>https://</a:t>
            </a:r>
            <a:r>
              <a:rPr lang="de-CH" u="sng" dirty="0" err="1">
                <a:hlinkClick r:id="rId4"/>
              </a:rPr>
              <a:t>www.geeksforgeeks.org</a:t>
            </a:r>
            <a:r>
              <a:rPr lang="de-CH" u="sng" dirty="0">
                <a:hlinkClick r:id="rId4"/>
              </a:rPr>
              <a:t>/</a:t>
            </a:r>
            <a:r>
              <a:rPr lang="de-CH" u="sng" dirty="0" err="1">
                <a:hlinkClick r:id="rId4"/>
              </a:rPr>
              <a:t>deep-learning</a:t>
            </a:r>
            <a:r>
              <a:rPr lang="de-CH" u="sng" dirty="0">
                <a:hlinkClick r:id="rId4"/>
              </a:rPr>
              <a:t>/multi-</a:t>
            </a:r>
            <a:r>
              <a:rPr lang="de-CH" u="sng" dirty="0" err="1">
                <a:hlinkClick r:id="rId4"/>
              </a:rPr>
              <a:t>layer</a:t>
            </a:r>
            <a:r>
              <a:rPr lang="de-CH" u="sng" dirty="0">
                <a:hlinkClick r:id="rId4"/>
              </a:rPr>
              <a:t>-</a:t>
            </a:r>
            <a:r>
              <a:rPr lang="de-CH" u="sng" dirty="0" err="1">
                <a:hlinkClick r:id="rId4"/>
              </a:rPr>
              <a:t>perceptron</a:t>
            </a:r>
            <a:r>
              <a:rPr lang="de-CH" u="sng" dirty="0">
                <a:hlinkClick r:id="rId4"/>
              </a:rPr>
              <a:t>-</a:t>
            </a:r>
            <a:r>
              <a:rPr lang="de-CH" u="sng" dirty="0" err="1">
                <a:hlinkClick r:id="rId4"/>
              </a:rPr>
              <a:t>learning</a:t>
            </a:r>
            <a:r>
              <a:rPr lang="de-CH" u="sng" dirty="0">
                <a:hlinkClick r:id="rId4"/>
              </a:rPr>
              <a:t>-in-</a:t>
            </a:r>
            <a:r>
              <a:rPr lang="de-CH" u="sng" dirty="0" err="1">
                <a:hlinkClick r:id="rId4"/>
              </a:rPr>
              <a:t>tensorflow</a:t>
            </a:r>
            <a:r>
              <a:rPr lang="de-CH" u="sng" dirty="0">
                <a:hlinkClick r:id="rId4"/>
              </a:rPr>
              <a:t>/</a:t>
            </a:r>
            <a:endParaRPr lang="de-DE" dirty="0"/>
          </a:p>
          <a:p>
            <a:r>
              <a:rPr lang="de-CH" u="sng" dirty="0">
                <a:hlinkClick r:id="rId5"/>
              </a:rPr>
              <a:t>https://</a:t>
            </a:r>
            <a:r>
              <a:rPr lang="de-CH" u="sng" dirty="0" err="1">
                <a:hlinkClick r:id="rId5"/>
              </a:rPr>
              <a:t>www.geeksforgeeks.org</a:t>
            </a:r>
            <a:r>
              <a:rPr lang="de-CH" u="sng" dirty="0">
                <a:hlinkClick r:id="rId5"/>
              </a:rPr>
              <a:t>/</a:t>
            </a:r>
            <a:r>
              <a:rPr lang="de-CH" u="sng" dirty="0" err="1">
                <a:hlinkClick r:id="rId5"/>
              </a:rPr>
              <a:t>machine-learning</a:t>
            </a:r>
            <a:r>
              <a:rPr lang="de-CH" u="sng" dirty="0">
                <a:hlinkClick r:id="rId5"/>
              </a:rPr>
              <a:t>/</a:t>
            </a:r>
            <a:r>
              <a:rPr lang="de-CH" u="sng" dirty="0" err="1">
                <a:hlinkClick r:id="rId5"/>
              </a:rPr>
              <a:t>random</a:t>
            </a:r>
            <a:r>
              <a:rPr lang="de-CH" u="sng" dirty="0">
                <a:hlinkClick r:id="rId5"/>
              </a:rPr>
              <a:t>-</a:t>
            </a:r>
            <a:r>
              <a:rPr lang="de-CH" u="sng" dirty="0" err="1">
                <a:hlinkClick r:id="rId5"/>
              </a:rPr>
              <a:t>forest</a:t>
            </a:r>
            <a:r>
              <a:rPr lang="de-CH" u="sng" dirty="0">
                <a:hlinkClick r:id="rId5"/>
              </a:rPr>
              <a:t>-</a:t>
            </a:r>
            <a:r>
              <a:rPr lang="de-CH" u="sng" dirty="0" err="1">
                <a:hlinkClick r:id="rId5"/>
              </a:rPr>
              <a:t>algorithm</a:t>
            </a:r>
            <a:r>
              <a:rPr lang="de-CH" u="sng" dirty="0">
                <a:hlinkClick r:id="rId5"/>
              </a:rPr>
              <a:t>-in-</a:t>
            </a:r>
            <a:r>
              <a:rPr lang="de-CH" u="sng" dirty="0" err="1">
                <a:hlinkClick r:id="rId5"/>
              </a:rPr>
              <a:t>machine</a:t>
            </a:r>
            <a:r>
              <a:rPr lang="de-CH" u="sng" dirty="0">
                <a:hlinkClick r:id="rId5"/>
              </a:rPr>
              <a:t>-</a:t>
            </a:r>
            <a:r>
              <a:rPr lang="de-CH" u="sng" dirty="0" err="1">
                <a:hlinkClick r:id="rId5"/>
              </a:rPr>
              <a:t>learning</a:t>
            </a:r>
            <a:r>
              <a:rPr lang="de-CH" u="sng" dirty="0">
                <a:hlinkClick r:id="rId5"/>
              </a:rPr>
              <a:t>/</a:t>
            </a:r>
            <a:endParaRPr lang="de-DE" dirty="0"/>
          </a:p>
          <a:p>
            <a:pPr marL="0" indent="0">
              <a:buNone/>
            </a:pPr>
            <a:r>
              <a:rPr lang="de-CH" b="1" dirty="0" err="1"/>
              <a:t>C2</a:t>
            </a:r>
            <a:r>
              <a:rPr lang="de-CH" b="1" dirty="0"/>
              <a:t> Architektur</a:t>
            </a:r>
            <a:endParaRPr lang="de-DE" b="1" dirty="0"/>
          </a:p>
          <a:p>
            <a:r>
              <a:rPr lang="de-CH" u="sng" dirty="0">
                <a:hlinkClick r:id="rId6"/>
              </a:rPr>
              <a:t>https://</a:t>
            </a:r>
            <a:r>
              <a:rPr lang="de-CH" u="sng" dirty="0" err="1">
                <a:hlinkClick r:id="rId6"/>
              </a:rPr>
              <a:t>github.com</a:t>
            </a:r>
            <a:r>
              <a:rPr lang="de-CH" u="sng" dirty="0">
                <a:hlinkClick r:id="rId6"/>
              </a:rPr>
              <a:t>/</a:t>
            </a:r>
            <a:r>
              <a:rPr lang="de-CH" u="sng" dirty="0" err="1">
                <a:hlinkClick r:id="rId6"/>
              </a:rPr>
              <a:t>NextronSystems</a:t>
            </a:r>
            <a:r>
              <a:rPr lang="de-CH" u="sng" dirty="0">
                <a:hlinkClick r:id="rId6"/>
              </a:rPr>
              <a:t>/</a:t>
            </a:r>
            <a:r>
              <a:rPr lang="de-CH" u="sng" dirty="0" err="1">
                <a:hlinkClick r:id="rId6"/>
              </a:rPr>
              <a:t>APTSimulator</a:t>
            </a:r>
            <a:r>
              <a:rPr lang="de-CH" u="sng" dirty="0">
                <a:hlinkClick r:id="rId6"/>
              </a:rPr>
              <a:t>/</a:t>
            </a:r>
            <a:r>
              <a:rPr lang="de-CH" u="sng" dirty="0" err="1">
                <a:hlinkClick r:id="rId6"/>
              </a:rPr>
              <a:t>blob</a:t>
            </a:r>
            <a:r>
              <a:rPr lang="de-CH" u="sng" dirty="0">
                <a:hlinkClick r:id="rId6"/>
              </a:rPr>
              <a:t>/</a:t>
            </a:r>
            <a:r>
              <a:rPr lang="de-CH" u="sng" dirty="0" err="1">
                <a:hlinkClick r:id="rId6"/>
              </a:rPr>
              <a:t>master</a:t>
            </a:r>
            <a:r>
              <a:rPr lang="de-CH" u="sng" dirty="0">
                <a:hlinkClick r:id="rId6"/>
              </a:rPr>
              <a:t>/test-sets/</a:t>
            </a:r>
            <a:r>
              <a:rPr lang="de-CH" u="sng" dirty="0" err="1">
                <a:hlinkClick r:id="rId6"/>
              </a:rPr>
              <a:t>cobaltstrike</a:t>
            </a:r>
            <a:r>
              <a:rPr lang="de-CH" u="sng" dirty="0">
                <a:hlinkClick r:id="rId6"/>
              </a:rPr>
              <a:t>/</a:t>
            </a:r>
            <a:r>
              <a:rPr lang="de-CH" u="sng" dirty="0" err="1">
                <a:hlinkClick r:id="rId6"/>
              </a:rPr>
              <a:t>cobaltstrike-simulation.bat</a:t>
            </a:r>
            <a:endParaRPr lang="de-DE" dirty="0"/>
          </a:p>
          <a:p>
            <a:r>
              <a:rPr lang="de-CH" u="sng" dirty="0">
                <a:hlinkClick r:id="rId7"/>
              </a:rPr>
              <a:t>https://</a:t>
            </a:r>
            <a:r>
              <a:rPr lang="de-CH" u="sng" dirty="0" err="1">
                <a:hlinkClick r:id="rId7"/>
              </a:rPr>
              <a:t>cyberbuff.github.io</a:t>
            </a:r>
            <a:r>
              <a:rPr lang="de-CH" u="sng" dirty="0">
                <a:hlinkClick r:id="rId7"/>
              </a:rPr>
              <a:t>/</a:t>
            </a:r>
            <a:r>
              <a:rPr lang="de-CH" u="sng" dirty="0" err="1">
                <a:hlinkClick r:id="rId7"/>
              </a:rPr>
              <a:t>TheAtomicPlaybook</a:t>
            </a:r>
            <a:r>
              <a:rPr lang="de-CH" u="sng" dirty="0">
                <a:hlinkClick r:id="rId7"/>
              </a:rPr>
              <a:t>/</a:t>
            </a:r>
            <a:r>
              <a:rPr lang="de-CH" u="sng" dirty="0" err="1">
                <a:hlinkClick r:id="rId7"/>
              </a:rPr>
              <a:t>tactics</a:t>
            </a:r>
            <a:r>
              <a:rPr lang="de-CH" u="sng" dirty="0">
                <a:hlinkClick r:id="rId7"/>
              </a:rPr>
              <a:t>/</a:t>
            </a:r>
            <a:r>
              <a:rPr lang="de-CH" u="sng" dirty="0" err="1">
                <a:hlinkClick r:id="rId7"/>
              </a:rPr>
              <a:t>command</a:t>
            </a:r>
            <a:r>
              <a:rPr lang="de-CH" u="sng" dirty="0">
                <a:hlinkClick r:id="rId7"/>
              </a:rPr>
              <a:t>-and-</a:t>
            </a:r>
            <a:r>
              <a:rPr lang="de-CH" u="sng" dirty="0" err="1">
                <a:hlinkClick r:id="rId7"/>
              </a:rPr>
              <a:t>control.html</a:t>
            </a:r>
            <a:endParaRPr lang="de-DE" dirty="0"/>
          </a:p>
          <a:p>
            <a:r>
              <a:rPr lang="de-CH" u="sng" dirty="0">
                <a:hlinkClick r:id="rId8"/>
              </a:rPr>
              <a:t>https://</a:t>
            </a:r>
            <a:r>
              <a:rPr lang="de-CH" u="sng" dirty="0" err="1">
                <a:hlinkClick r:id="rId8"/>
              </a:rPr>
              <a:t>attack.mitre.org</a:t>
            </a:r>
            <a:r>
              <a:rPr lang="de-CH" u="sng" dirty="0">
                <a:hlinkClick r:id="rId8"/>
              </a:rPr>
              <a:t>/</a:t>
            </a:r>
            <a:r>
              <a:rPr lang="de-CH" u="sng" dirty="0" err="1">
                <a:hlinkClick r:id="rId8"/>
              </a:rPr>
              <a:t>tactics</a:t>
            </a:r>
            <a:r>
              <a:rPr lang="de-CH" u="sng" dirty="0">
                <a:hlinkClick r:id="rId8"/>
              </a:rPr>
              <a:t>/TA0011/</a:t>
            </a:r>
            <a:endParaRPr lang="de-DE" dirty="0"/>
          </a:p>
          <a:p>
            <a:r>
              <a:rPr lang="de-CH" u="sng" dirty="0">
                <a:hlinkClick r:id="rId9"/>
              </a:rPr>
              <a:t>https://</a:t>
            </a:r>
            <a:r>
              <a:rPr lang="de-CH" u="sng" dirty="0" err="1">
                <a:hlinkClick r:id="rId9"/>
              </a:rPr>
              <a:t>www.malwarepatrol.net</a:t>
            </a:r>
            <a:r>
              <a:rPr lang="de-CH" u="sng" dirty="0">
                <a:hlinkClick r:id="rId9"/>
              </a:rPr>
              <a:t>/</a:t>
            </a:r>
            <a:r>
              <a:rPr lang="de-CH" u="sng" dirty="0" err="1">
                <a:hlinkClick r:id="rId9"/>
              </a:rPr>
              <a:t>the</a:t>
            </a:r>
            <a:r>
              <a:rPr lang="de-CH" u="sng" dirty="0">
                <a:hlinkClick r:id="rId9"/>
              </a:rPr>
              <a:t>-evolution-</a:t>
            </a:r>
            <a:r>
              <a:rPr lang="de-CH" u="sng" dirty="0" err="1">
                <a:hlinkClick r:id="rId9"/>
              </a:rPr>
              <a:t>of</a:t>
            </a:r>
            <a:r>
              <a:rPr lang="de-CH" u="sng" dirty="0">
                <a:hlinkClick r:id="rId9"/>
              </a:rPr>
              <a:t>-</a:t>
            </a:r>
            <a:r>
              <a:rPr lang="de-CH" u="sng" dirty="0" err="1">
                <a:hlinkClick r:id="rId9"/>
              </a:rPr>
              <a:t>c2-communication-channels</a:t>
            </a:r>
            <a:r>
              <a:rPr lang="de-CH" u="sng" dirty="0">
                <a:hlinkClick r:id="rId9"/>
              </a:rPr>
              <a:t>/</a:t>
            </a:r>
            <a:endParaRPr lang="de-DE" dirty="0"/>
          </a:p>
          <a:p>
            <a:pPr marL="0" indent="0">
              <a:buNone/>
            </a:pPr>
            <a:r>
              <a:rPr lang="de-CH" b="1" dirty="0"/>
              <a:t>Öffentliche Tools &amp; Informationen</a:t>
            </a:r>
            <a:endParaRPr lang="de-DE" b="1" dirty="0"/>
          </a:p>
          <a:p>
            <a:r>
              <a:rPr lang="de-CH" u="sng" dirty="0">
                <a:hlinkClick r:id="rId10"/>
              </a:rPr>
              <a:t>https://</a:t>
            </a:r>
            <a:r>
              <a:rPr lang="de-CH" u="sng" dirty="0" err="1">
                <a:hlinkClick r:id="rId10"/>
              </a:rPr>
              <a:t>github.com</a:t>
            </a:r>
            <a:r>
              <a:rPr lang="de-CH" u="sng" dirty="0">
                <a:hlinkClick r:id="rId10"/>
              </a:rPr>
              <a:t>/</a:t>
            </a:r>
            <a:r>
              <a:rPr lang="de-CH" u="sng" dirty="0" err="1">
                <a:hlinkClick r:id="rId10"/>
              </a:rPr>
              <a:t>Siddarthkutumbaka</a:t>
            </a:r>
            <a:r>
              <a:rPr lang="de-CH" u="sng" dirty="0">
                <a:hlinkClick r:id="rId10"/>
              </a:rPr>
              <a:t>/</a:t>
            </a:r>
            <a:r>
              <a:rPr lang="de-CH" u="sng" dirty="0" err="1">
                <a:hlinkClick r:id="rId10"/>
              </a:rPr>
              <a:t>botnet</a:t>
            </a:r>
            <a:r>
              <a:rPr lang="de-CH" u="sng" dirty="0">
                <a:hlinkClick r:id="rId10"/>
              </a:rPr>
              <a:t>-</a:t>
            </a:r>
            <a:r>
              <a:rPr lang="de-CH" u="sng" dirty="0" err="1">
                <a:hlinkClick r:id="rId10"/>
              </a:rPr>
              <a:t>c2</a:t>
            </a:r>
            <a:r>
              <a:rPr lang="de-CH" u="sng" dirty="0">
                <a:hlinkClick r:id="rId10"/>
              </a:rPr>
              <a:t>-</a:t>
            </a:r>
            <a:r>
              <a:rPr lang="de-CH" u="sng" dirty="0" err="1">
                <a:hlinkClick r:id="rId10"/>
              </a:rPr>
              <a:t>detection</a:t>
            </a:r>
            <a:r>
              <a:rPr lang="de-CH" u="sng" dirty="0">
                <a:hlinkClick r:id="rId10"/>
              </a:rPr>
              <a:t>-ml</a:t>
            </a:r>
            <a:endParaRPr lang="de-DE" dirty="0"/>
          </a:p>
          <a:p>
            <a:r>
              <a:rPr lang="de-CH" u="sng" dirty="0">
                <a:hlinkClick r:id="rId11"/>
              </a:rPr>
              <a:t>https://</a:t>
            </a:r>
            <a:r>
              <a:rPr lang="de-CH" u="sng" dirty="0" err="1">
                <a:hlinkClick r:id="rId11"/>
              </a:rPr>
              <a:t>huggingface.co</a:t>
            </a:r>
            <a:r>
              <a:rPr lang="de-CH" u="sng" dirty="0">
                <a:hlinkClick r:id="rId11"/>
              </a:rPr>
              <a:t>/</a:t>
            </a:r>
            <a:r>
              <a:rPr lang="de-CH" u="sng" dirty="0" err="1">
                <a:hlinkClick r:id="rId11"/>
              </a:rPr>
              <a:t>danielostrow</a:t>
            </a:r>
            <a:r>
              <a:rPr lang="de-CH" u="sng" dirty="0">
                <a:hlinkClick r:id="rId11"/>
              </a:rPr>
              <a:t>/</a:t>
            </a:r>
            <a:r>
              <a:rPr lang="de-CH" u="sng" dirty="0" err="1">
                <a:hlinkClick r:id="rId11"/>
              </a:rPr>
              <a:t>c2sentinel</a:t>
            </a:r>
            <a:endParaRPr lang="de-DE" dirty="0"/>
          </a:p>
          <a:p>
            <a:r>
              <a:rPr lang="de-CH" u="sng" dirty="0">
                <a:hlinkClick r:id="rId12"/>
              </a:rPr>
              <a:t>https://</a:t>
            </a:r>
            <a:r>
              <a:rPr lang="de-CH" u="sng" dirty="0" err="1">
                <a:hlinkClick r:id="rId12"/>
              </a:rPr>
              <a:t>hunt.io</a:t>
            </a:r>
            <a:r>
              <a:rPr lang="de-CH" u="sng" dirty="0">
                <a:hlinkClick r:id="rId12"/>
              </a:rPr>
              <a:t>/</a:t>
            </a:r>
            <a:r>
              <a:rPr lang="de-CH" u="sng" dirty="0" err="1">
                <a:hlinkClick r:id="rId12"/>
              </a:rPr>
              <a:t>glossary</a:t>
            </a:r>
            <a:r>
              <a:rPr lang="de-CH" u="sng" dirty="0">
                <a:hlinkClick r:id="rId12"/>
              </a:rPr>
              <a:t>/</a:t>
            </a:r>
            <a:r>
              <a:rPr lang="de-CH" u="sng" dirty="0" err="1">
                <a:hlinkClick r:id="rId12"/>
              </a:rPr>
              <a:t>c2-beaconing</a:t>
            </a:r>
            <a:endParaRPr lang="de-DE" dirty="0"/>
          </a:p>
          <a:p>
            <a:r>
              <a:rPr lang="de-CH" u="sng" dirty="0">
                <a:hlinkClick r:id="rId13"/>
              </a:rPr>
              <a:t>https://</a:t>
            </a:r>
            <a:r>
              <a:rPr lang="de-CH" u="sng" dirty="0" err="1">
                <a:hlinkClick r:id="rId13"/>
              </a:rPr>
              <a:t>www.hackthebox.com</a:t>
            </a:r>
            <a:r>
              <a:rPr lang="de-CH" u="sng" dirty="0">
                <a:hlinkClick r:id="rId13"/>
              </a:rPr>
              <a:t>/</a:t>
            </a:r>
            <a:r>
              <a:rPr lang="de-CH" u="sng" dirty="0" err="1">
                <a:hlinkClick r:id="rId13"/>
              </a:rPr>
              <a:t>blog</a:t>
            </a:r>
            <a:r>
              <a:rPr lang="de-CH" u="sng" dirty="0">
                <a:hlinkClick r:id="rId13"/>
              </a:rPr>
              <a:t>/</a:t>
            </a:r>
            <a:r>
              <a:rPr lang="de-CH" u="sng" dirty="0" err="1">
                <a:hlinkClick r:id="rId13"/>
              </a:rPr>
              <a:t>detecting-investigating-c2-communication</a:t>
            </a:r>
            <a:endParaRPr lang="de-DE" dirty="0"/>
          </a:p>
          <a:p>
            <a:r>
              <a:rPr lang="de-CH" u="sng" dirty="0">
                <a:hlinkClick r:id="rId14"/>
              </a:rPr>
              <a:t>https://</a:t>
            </a:r>
            <a:r>
              <a:rPr lang="de-CH" u="sng" dirty="0" err="1">
                <a:hlinkClick r:id="rId14"/>
              </a:rPr>
              <a:t>www.netskope.com</a:t>
            </a:r>
            <a:r>
              <a:rPr lang="de-CH" u="sng" dirty="0">
                <a:hlinkClick r:id="rId14"/>
              </a:rPr>
              <a:t>/</a:t>
            </a:r>
            <a:r>
              <a:rPr lang="de-CH" u="sng" dirty="0" err="1">
                <a:hlinkClick r:id="rId14"/>
              </a:rPr>
              <a:t>resources</a:t>
            </a:r>
            <a:r>
              <a:rPr lang="de-CH" u="sng" dirty="0">
                <a:hlinkClick r:id="rId14"/>
              </a:rPr>
              <a:t>/</a:t>
            </a:r>
            <a:r>
              <a:rPr lang="de-CH" u="sng" dirty="0" err="1">
                <a:hlinkClick r:id="rId14"/>
              </a:rPr>
              <a:t>white</a:t>
            </a:r>
            <a:r>
              <a:rPr lang="de-CH" u="sng" dirty="0">
                <a:hlinkClick r:id="rId14"/>
              </a:rPr>
              <a:t>-papers/effective-c2-beaconing-detection-white-paper#new-detection-approach</a:t>
            </a:r>
            <a:endParaRPr lang="de-DE" dirty="0"/>
          </a:p>
          <a:p>
            <a:pPr marL="0" indent="0">
              <a:buNone/>
            </a:pPr>
            <a:r>
              <a:rPr lang="de-CH" b="1" dirty="0"/>
              <a:t>Dokumentationen</a:t>
            </a:r>
            <a:endParaRPr lang="de-DE" b="1" dirty="0"/>
          </a:p>
          <a:p>
            <a:r>
              <a:rPr lang="de-CH" u="sng" dirty="0">
                <a:hlinkClick r:id="rId15"/>
              </a:rPr>
              <a:t>https://</a:t>
            </a:r>
            <a:r>
              <a:rPr lang="de-CH" u="sng" dirty="0" err="1">
                <a:hlinkClick r:id="rId15"/>
              </a:rPr>
              <a:t>www.nfstream.org</a:t>
            </a:r>
            <a:r>
              <a:rPr lang="de-CH" u="sng" dirty="0">
                <a:hlinkClick r:id="rId15"/>
              </a:rPr>
              <a:t>/</a:t>
            </a:r>
            <a:r>
              <a:rPr lang="de-CH" u="sng" dirty="0" err="1">
                <a:hlinkClick r:id="rId15"/>
              </a:rPr>
              <a:t>docs</a:t>
            </a:r>
            <a:r>
              <a:rPr lang="de-CH" u="sng" dirty="0">
                <a:hlinkClick r:id="rId15"/>
              </a:rPr>
              <a:t>/</a:t>
            </a:r>
            <a:r>
              <a:rPr lang="de-CH" u="sng" dirty="0" err="1">
                <a:hlinkClick r:id="rId15"/>
              </a:rPr>
              <a:t>api</a:t>
            </a:r>
            <a:endParaRPr lang="de-DE" dirty="0"/>
          </a:p>
          <a:p>
            <a:r>
              <a:rPr lang="de-CH" u="sng" dirty="0">
                <a:hlinkClick r:id="rId16"/>
              </a:rPr>
              <a:t>https://</a:t>
            </a:r>
            <a:r>
              <a:rPr lang="de-CH" u="sng" dirty="0" err="1">
                <a:hlinkClick r:id="rId16"/>
              </a:rPr>
              <a:t>sliver.sh</a:t>
            </a:r>
            <a:r>
              <a:rPr lang="de-CH" u="sng" dirty="0">
                <a:hlinkClick r:id="rId16"/>
              </a:rPr>
              <a:t>/</a:t>
            </a:r>
            <a:endParaRPr lang="de-DE" dirty="0"/>
          </a:p>
          <a:p>
            <a:r>
              <a:rPr lang="de-CH" u="sng" dirty="0">
                <a:hlinkClick r:id="rId17"/>
              </a:rPr>
              <a:t>https://</a:t>
            </a:r>
            <a:r>
              <a:rPr lang="de-CH" u="sng" dirty="0" err="1">
                <a:hlinkClick r:id="rId17"/>
              </a:rPr>
              <a:t>scikit-learn.org</a:t>
            </a:r>
            <a:r>
              <a:rPr lang="de-CH" u="sng" dirty="0">
                <a:hlinkClick r:id="rId17"/>
              </a:rPr>
              <a:t>/</a:t>
            </a:r>
            <a:r>
              <a:rPr lang="de-CH" u="sng" dirty="0" err="1">
                <a:hlinkClick r:id="rId17"/>
              </a:rPr>
              <a:t>stable</a:t>
            </a:r>
            <a:r>
              <a:rPr lang="de-CH" u="sng" dirty="0">
                <a:hlinkClick r:id="rId17"/>
              </a:rPr>
              <a:t>/</a:t>
            </a:r>
            <a:r>
              <a:rPr lang="de-CH" u="sng" dirty="0" err="1">
                <a:hlinkClick r:id="rId17"/>
              </a:rPr>
              <a:t>api</a:t>
            </a:r>
            <a:r>
              <a:rPr lang="de-CH" u="sng" dirty="0">
                <a:hlinkClick r:id="rId17"/>
              </a:rPr>
              <a:t>/</a:t>
            </a:r>
            <a:r>
              <a:rPr lang="de-CH" u="sng" dirty="0" err="1">
                <a:hlinkClick r:id="rId17"/>
              </a:rPr>
              <a:t>index.html</a:t>
            </a:r>
            <a:endParaRPr lang="de-DE" dirty="0"/>
          </a:p>
          <a:p>
            <a:r>
              <a:rPr lang="de-CH" u="sng" dirty="0">
                <a:hlinkClick r:id="rId18"/>
              </a:rPr>
              <a:t>https://</a:t>
            </a:r>
            <a:r>
              <a:rPr lang="de-CH" u="sng" dirty="0" err="1">
                <a:hlinkClick r:id="rId18"/>
              </a:rPr>
              <a:t>pandas.pydata.org</a:t>
            </a:r>
            <a:r>
              <a:rPr lang="de-CH" u="sng" dirty="0">
                <a:hlinkClick r:id="rId18"/>
              </a:rPr>
              <a:t>/</a:t>
            </a:r>
            <a:r>
              <a:rPr lang="de-CH" u="sng" dirty="0" err="1">
                <a:hlinkClick r:id="rId18"/>
              </a:rPr>
              <a:t>docs</a:t>
            </a:r>
            <a:r>
              <a:rPr lang="de-CH" u="sng" dirty="0">
                <a:hlinkClick r:id="rId18"/>
              </a:rPr>
              <a:t>/</a:t>
            </a:r>
            <a:r>
              <a:rPr lang="de-CH" u="sng" dirty="0" err="1">
                <a:hlinkClick r:id="rId18"/>
              </a:rPr>
              <a:t>reference</a:t>
            </a:r>
            <a:r>
              <a:rPr lang="de-CH" u="sng" dirty="0">
                <a:hlinkClick r:id="rId18"/>
              </a:rPr>
              <a:t>/</a:t>
            </a:r>
            <a:r>
              <a:rPr lang="de-CH" u="sng" dirty="0" err="1">
                <a:hlinkClick r:id="rId18"/>
              </a:rPr>
              <a:t>index.html</a:t>
            </a:r>
            <a:endParaRPr lang="de-DE" dirty="0"/>
          </a:p>
          <a:p>
            <a:pPr marL="0" indent="0">
              <a:buNone/>
            </a:pPr>
            <a:r>
              <a:rPr lang="de-CH" b="1" dirty="0"/>
              <a:t>Bilderquellen</a:t>
            </a:r>
            <a:endParaRPr lang="de-DE" b="1" dirty="0"/>
          </a:p>
          <a:p>
            <a:r>
              <a:rPr lang="de-CH" u="sng" dirty="0">
                <a:hlinkClick r:id="rId19"/>
              </a:rPr>
              <a:t>https://</a:t>
            </a:r>
            <a:r>
              <a:rPr lang="de-CH" u="sng" dirty="0" err="1">
                <a:hlinkClick r:id="rId19"/>
              </a:rPr>
              <a:t>medium.com</a:t>
            </a:r>
            <a:r>
              <a:rPr lang="de-CH" u="sng" dirty="0">
                <a:hlinkClick r:id="rId19"/>
              </a:rPr>
              <a:t>/@</a:t>
            </a:r>
            <a:r>
              <a:rPr lang="de-CH" u="sng" dirty="0" err="1">
                <a:hlinkClick r:id="rId19"/>
              </a:rPr>
              <a:t>namit.ranjan</a:t>
            </a:r>
            <a:r>
              <a:rPr lang="de-CH" u="sng" dirty="0">
                <a:hlinkClick r:id="rId19"/>
              </a:rPr>
              <a:t>/day-18-of-mydfir-soc-analyst-challenge-understanding-command-and-control-c2-in-cybersecurity-86ef42eec219</a:t>
            </a:r>
            <a:endParaRPr lang="de-DE" dirty="0"/>
          </a:p>
          <a:p>
            <a:r>
              <a:rPr lang="de-CH" u="sng" dirty="0">
                <a:hlinkClick r:id="rId20"/>
              </a:rPr>
              <a:t>https://</a:t>
            </a:r>
            <a:r>
              <a:rPr lang="de-CH" u="sng" dirty="0" err="1">
                <a:hlinkClick r:id="rId20"/>
              </a:rPr>
              <a:t>www.kdnuggets.com</a:t>
            </a:r>
            <a:r>
              <a:rPr lang="de-CH" u="sng" dirty="0">
                <a:hlinkClick r:id="rId20"/>
              </a:rPr>
              <a:t>/5-</a:t>
            </a:r>
            <a:r>
              <a:rPr lang="de-CH" u="sng" dirty="0" err="1">
                <a:hlinkClick r:id="rId20"/>
              </a:rPr>
              <a:t>machine</a:t>
            </a:r>
            <a:r>
              <a:rPr lang="de-CH" u="sng" dirty="0">
                <a:hlinkClick r:id="rId20"/>
              </a:rPr>
              <a:t>-</a:t>
            </a:r>
            <a:r>
              <a:rPr lang="de-CH" u="sng" dirty="0" err="1">
                <a:hlinkClick r:id="rId20"/>
              </a:rPr>
              <a:t>learning</a:t>
            </a:r>
            <a:r>
              <a:rPr lang="de-CH" u="sng" dirty="0">
                <a:hlinkClick r:id="rId20"/>
              </a:rPr>
              <a:t>-models-</a:t>
            </a:r>
            <a:r>
              <a:rPr lang="de-CH" u="sng" dirty="0" err="1">
                <a:hlinkClick r:id="rId20"/>
              </a:rPr>
              <a:t>explained</a:t>
            </a:r>
            <a:r>
              <a:rPr lang="de-CH" u="sng" dirty="0">
                <a:hlinkClick r:id="rId20"/>
              </a:rPr>
              <a:t>-in-5-</a:t>
            </a:r>
            <a:r>
              <a:rPr lang="de-CH" u="sng" dirty="0" err="1">
                <a:hlinkClick r:id="rId20"/>
              </a:rPr>
              <a:t>minutes</a:t>
            </a:r>
            <a:endParaRPr lang="de-DE" dirty="0"/>
          </a:p>
          <a:p>
            <a:r>
              <a:rPr lang="de-CH" u="sng" dirty="0">
                <a:hlinkClick r:id="rId21"/>
              </a:rPr>
              <a:t>https://</a:t>
            </a:r>
            <a:r>
              <a:rPr lang="de-CH" u="sng" dirty="0" err="1">
                <a:hlinkClick r:id="rId21"/>
              </a:rPr>
              <a:t>media.geeksforgeeks.org</a:t>
            </a:r>
            <a:r>
              <a:rPr lang="de-CH" u="sng" dirty="0">
                <a:hlinkClick r:id="rId21"/>
              </a:rPr>
              <a:t>/</a:t>
            </a:r>
            <a:r>
              <a:rPr lang="de-CH" u="sng" dirty="0" err="1">
                <a:hlinkClick r:id="rId21"/>
              </a:rPr>
              <a:t>wp</a:t>
            </a:r>
            <a:r>
              <a:rPr lang="de-CH" u="sng" dirty="0">
                <a:hlinkClick r:id="rId21"/>
              </a:rPr>
              <a:t>-content/</a:t>
            </a:r>
            <a:r>
              <a:rPr lang="de-CH" u="sng" dirty="0" err="1">
                <a:hlinkClick r:id="rId21"/>
              </a:rPr>
              <a:t>uploads</a:t>
            </a:r>
            <a:r>
              <a:rPr lang="de-CH" u="sng" dirty="0">
                <a:hlinkClick r:id="rId21"/>
              </a:rPr>
              <a:t>/20250929154234052438/</a:t>
            </a:r>
            <a:r>
              <a:rPr lang="de-CH" u="sng" dirty="0" err="1">
                <a:hlinkClick r:id="rId21"/>
              </a:rPr>
              <a:t>backpropagation_in_neural_network_8.webp</a:t>
            </a:r>
            <a:endParaRPr lang="de-DE" dirty="0"/>
          </a:p>
          <a:p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14285E07-2961-45F3-1BE8-3070411BAF40}"/>
              </a:ext>
            </a:extLst>
          </p:cNvPr>
          <p:cNvSpPr txBox="1">
            <a:spLocks/>
          </p:cNvSpPr>
          <p:nvPr/>
        </p:nvSpPr>
        <p:spPr>
          <a:xfrm>
            <a:off x="481096" y="365125"/>
            <a:ext cx="88343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Quellen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A566D6C-592B-AF32-139F-23EBCC8FD369}"/>
              </a:ext>
            </a:extLst>
          </p:cNvPr>
          <p:cNvSpPr txBox="1"/>
          <p:nvPr/>
        </p:nvSpPr>
        <p:spPr>
          <a:xfrm>
            <a:off x="10380133" y="143933"/>
            <a:ext cx="210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Silas Burkhard</a:t>
            </a:r>
          </a:p>
          <a:p>
            <a:r>
              <a:rPr lang="de-DE" dirty="0"/>
              <a:t>26.06.2026</a:t>
            </a:r>
          </a:p>
        </p:txBody>
      </p:sp>
    </p:spTree>
    <p:extLst>
      <p:ext uri="{BB962C8B-B14F-4D97-AF65-F5344CB8AC3E}">
        <p14:creationId xmlns:p14="http://schemas.microsoft.com/office/powerpoint/2010/main" val="1688950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623DBE56-1528-9D7D-CB17-A2672873989F}"/>
              </a:ext>
            </a:extLst>
          </p:cNvPr>
          <p:cNvSpPr/>
          <p:nvPr/>
        </p:nvSpPr>
        <p:spPr>
          <a:xfrm rot="20117138">
            <a:off x="1103310" y="51699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173EA3E1-D3DB-A687-32F7-7530146BE2F0}"/>
              </a:ext>
            </a:extLst>
          </p:cNvPr>
          <p:cNvSpPr/>
          <p:nvPr/>
        </p:nvSpPr>
        <p:spPr>
          <a:xfrm rot="643008">
            <a:off x="536518" y="8479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9B53DE2-26AF-177F-EA33-2755EB9C4A6D}"/>
              </a:ext>
            </a:extLst>
          </p:cNvPr>
          <p:cNvSpPr/>
          <p:nvPr/>
        </p:nvSpPr>
        <p:spPr>
          <a:xfrm>
            <a:off x="1287738" y="15904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8A48DAC1-1136-2B21-1902-8335D2B9C6E5}"/>
              </a:ext>
            </a:extLst>
          </p:cNvPr>
          <p:cNvSpPr/>
          <p:nvPr/>
        </p:nvSpPr>
        <p:spPr>
          <a:xfrm>
            <a:off x="1014791" y="1904757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4883140B-FEA6-6987-E1F6-7879252B9F95}"/>
              </a:ext>
            </a:extLst>
          </p:cNvPr>
          <p:cNvSpPr/>
          <p:nvPr/>
        </p:nvSpPr>
        <p:spPr>
          <a:xfrm>
            <a:off x="536518" y="1904757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3EC6412F-AF6E-0B6B-BB33-1F8DE916378D}"/>
              </a:ext>
            </a:extLst>
          </p:cNvPr>
          <p:cNvSpPr/>
          <p:nvPr/>
        </p:nvSpPr>
        <p:spPr>
          <a:xfrm>
            <a:off x="204791" y="15904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7AE34E5B-45AD-F26C-47DF-7A93D9B1471C}"/>
              </a:ext>
            </a:extLst>
          </p:cNvPr>
          <p:cNvSpPr/>
          <p:nvPr/>
        </p:nvSpPr>
        <p:spPr>
          <a:xfrm>
            <a:off x="204791" y="115168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04BE716-A72A-98E2-9B20-8D3585A18C38}"/>
              </a:ext>
            </a:extLst>
          </p:cNvPr>
          <p:cNvSpPr/>
          <p:nvPr/>
        </p:nvSpPr>
        <p:spPr>
          <a:xfrm>
            <a:off x="8217369" y="776640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Achteck 38">
            <a:extLst>
              <a:ext uri="{FF2B5EF4-FFF2-40B4-BE49-F238E27FC236}">
                <a16:creationId xmlns:a16="http://schemas.microsoft.com/office/drawing/2014/main" id="{25C1FCE4-B3AF-D115-BC46-72E354BB32AC}"/>
              </a:ext>
            </a:extLst>
          </p:cNvPr>
          <p:cNvSpPr>
            <a:spLocks noChangeAspect="1"/>
          </p:cNvSpPr>
          <p:nvPr/>
        </p:nvSpPr>
        <p:spPr>
          <a:xfrm>
            <a:off x="7272369" y="1387931"/>
            <a:ext cx="1080000" cy="1080000"/>
          </a:xfrm>
          <a:prstGeom prst="octagon">
            <a:avLst>
              <a:gd name="adj" fmla="val 297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FD645268-B27E-1555-96DF-02896CF65D1E}"/>
              </a:ext>
            </a:extLst>
          </p:cNvPr>
          <p:cNvSpPr/>
          <p:nvPr/>
        </p:nvSpPr>
        <p:spPr>
          <a:xfrm>
            <a:off x="7469096" y="12529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A7DC7466-EC5B-5841-0F9E-ACC6A996177E}"/>
              </a:ext>
            </a:extLst>
          </p:cNvPr>
          <p:cNvSpPr/>
          <p:nvPr/>
        </p:nvSpPr>
        <p:spPr>
          <a:xfrm>
            <a:off x="8217369" y="15229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7AD16A93-91DA-A212-3BF1-20E027605D59}"/>
              </a:ext>
            </a:extLst>
          </p:cNvPr>
          <p:cNvSpPr/>
          <p:nvPr/>
        </p:nvSpPr>
        <p:spPr>
          <a:xfrm>
            <a:off x="8220316" y="19954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21CF8BC0-A188-E9A1-91E7-6CF2D4F1D0EE}"/>
              </a:ext>
            </a:extLst>
          </p:cNvPr>
          <p:cNvSpPr/>
          <p:nvPr/>
        </p:nvSpPr>
        <p:spPr>
          <a:xfrm>
            <a:off x="7947369" y="2309757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8047238C-E849-4B6A-47AE-4EA80EEF60CF}"/>
              </a:ext>
            </a:extLst>
          </p:cNvPr>
          <p:cNvSpPr/>
          <p:nvPr/>
        </p:nvSpPr>
        <p:spPr>
          <a:xfrm>
            <a:off x="7469096" y="2309757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5F7AB468-CCDA-2A86-A836-1218510C76AE}"/>
              </a:ext>
            </a:extLst>
          </p:cNvPr>
          <p:cNvSpPr/>
          <p:nvPr/>
        </p:nvSpPr>
        <p:spPr>
          <a:xfrm>
            <a:off x="7137369" y="199543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B6199772-411B-3DAE-AF4C-873F53495E73}"/>
              </a:ext>
            </a:extLst>
          </p:cNvPr>
          <p:cNvSpPr/>
          <p:nvPr/>
        </p:nvSpPr>
        <p:spPr>
          <a:xfrm>
            <a:off x="7137369" y="1556681"/>
            <a:ext cx="270000" cy="2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294127BB-430F-3B61-354F-525604EF0DA9}"/>
              </a:ext>
            </a:extLst>
          </p:cNvPr>
          <p:cNvSpPr>
            <a:spLocks noChangeAspect="1"/>
          </p:cNvSpPr>
          <p:nvPr/>
        </p:nvSpPr>
        <p:spPr>
          <a:xfrm>
            <a:off x="9526824" y="3456173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01E85ABB-508A-90B5-F9CA-2B70F5F4454D}"/>
              </a:ext>
            </a:extLst>
          </p:cNvPr>
          <p:cNvSpPr>
            <a:spLocks noChangeAspect="1"/>
          </p:cNvSpPr>
          <p:nvPr/>
        </p:nvSpPr>
        <p:spPr>
          <a:xfrm>
            <a:off x="8778551" y="39729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6A7492F9-A431-A8C0-7327-B0316A44D2DF}"/>
              </a:ext>
            </a:extLst>
          </p:cNvPr>
          <p:cNvSpPr>
            <a:spLocks noChangeAspect="1"/>
          </p:cNvSpPr>
          <p:nvPr/>
        </p:nvSpPr>
        <p:spPr>
          <a:xfrm>
            <a:off x="9526824" y="42429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6D1D41B-3434-DF1A-B6E3-CBDDEB480DD1}"/>
              </a:ext>
            </a:extLst>
          </p:cNvPr>
          <p:cNvSpPr>
            <a:spLocks noChangeAspect="1"/>
          </p:cNvSpPr>
          <p:nvPr/>
        </p:nvSpPr>
        <p:spPr>
          <a:xfrm>
            <a:off x="9529771" y="47154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15593A1C-FA83-4B88-536E-0426A73A31AD}"/>
              </a:ext>
            </a:extLst>
          </p:cNvPr>
          <p:cNvSpPr>
            <a:spLocks noChangeAspect="1"/>
          </p:cNvSpPr>
          <p:nvPr/>
        </p:nvSpPr>
        <p:spPr>
          <a:xfrm>
            <a:off x="9256824" y="5029825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DC0529E4-A6A9-8A05-50E0-DF94B8969931}"/>
              </a:ext>
            </a:extLst>
          </p:cNvPr>
          <p:cNvSpPr>
            <a:spLocks noChangeAspect="1"/>
          </p:cNvSpPr>
          <p:nvPr/>
        </p:nvSpPr>
        <p:spPr>
          <a:xfrm>
            <a:off x="8778551" y="5029825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25A0B42B-DD53-AD60-56FB-20ED86C564C5}"/>
              </a:ext>
            </a:extLst>
          </p:cNvPr>
          <p:cNvSpPr>
            <a:spLocks noChangeAspect="1"/>
          </p:cNvSpPr>
          <p:nvPr/>
        </p:nvSpPr>
        <p:spPr>
          <a:xfrm>
            <a:off x="8446824" y="471549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12E17678-030D-09C9-F14F-09A431CEF4B6}"/>
              </a:ext>
            </a:extLst>
          </p:cNvPr>
          <p:cNvSpPr>
            <a:spLocks noChangeAspect="1"/>
          </p:cNvSpPr>
          <p:nvPr/>
        </p:nvSpPr>
        <p:spPr>
          <a:xfrm>
            <a:off x="8446824" y="4276749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1" name="Grafik 80">
            <a:extLst>
              <a:ext uri="{FF2B5EF4-FFF2-40B4-BE49-F238E27FC236}">
                <a16:creationId xmlns:a16="http://schemas.microsoft.com/office/drawing/2014/main" id="{3E7F9AB2-7944-CEA5-EF2F-D0CD0688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431" y="2444757"/>
            <a:ext cx="872687" cy="885458"/>
          </a:xfrm>
          <a:prstGeom prst="rect">
            <a:avLst/>
          </a:prstGeom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5D1723A6-0364-1369-DBAA-2F020ADB62B1}"/>
              </a:ext>
            </a:extLst>
          </p:cNvPr>
          <p:cNvSpPr/>
          <p:nvPr/>
        </p:nvSpPr>
        <p:spPr>
          <a:xfrm rot="18966196">
            <a:off x="1284791" y="1117931"/>
            <a:ext cx="270000" cy="27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5000">
                <a:srgbClr val="00B050"/>
              </a:gs>
              <a:gs pos="100000">
                <a:schemeClr val="accent3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9807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Breitbild</PresentationFormat>
  <Paragraphs>104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C2ISOLATE</vt:lpstr>
      <vt:lpstr>Projektziel</vt:lpstr>
      <vt:lpstr>PowerPoint-Präsentation</vt:lpstr>
      <vt:lpstr>Erreichte Ziele</vt:lpstr>
      <vt:lpstr>PowerPoint-Präsentation</vt:lpstr>
      <vt:lpstr>Erreichte Ziele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Silas Burkhard</dc:creator>
  <cp:lastModifiedBy>Silas Burkhard</cp:lastModifiedBy>
  <cp:revision>6</cp:revision>
  <dcterms:created xsi:type="dcterms:W3CDTF">2026-06-19T12:17:07Z</dcterms:created>
  <dcterms:modified xsi:type="dcterms:W3CDTF">2026-06-26T08:04:30Z</dcterms:modified>
</cp:coreProperties>
</file>